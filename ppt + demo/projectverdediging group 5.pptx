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5" r:id="rId3"/>
    <p:sldId id="263" r:id="rId4"/>
    <p:sldId id="266" r:id="rId5"/>
    <p:sldId id="262" r:id="rId6"/>
    <p:sldId id="274" r:id="rId7"/>
    <p:sldId id="276" r:id="rId8"/>
    <p:sldId id="264" r:id="rId9"/>
    <p:sldId id="271" r:id="rId10"/>
    <p:sldId id="275" r:id="rId11"/>
    <p:sldId id="257" r:id="rId12"/>
    <p:sldId id="258" r:id="rId13"/>
    <p:sldId id="270" r:id="rId14"/>
    <p:sldId id="279" r:id="rId15"/>
    <p:sldId id="277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2B57F-053F-5140-97F5-354DDE3DF517}" v="1313" dt="2025-12-15T19:04:06.208"/>
    <p1510:client id="{6BC3BE67-79BA-2577-6A16-97D3E86A873D}" v="2249" dt="2025-12-15T19:04:23.424"/>
    <p1510:client id="{6E7E79F5-F904-28FA-A5EA-4A1526679927}" v="165" dt="2025-12-15T18:39:39.461"/>
    <p1510:client id="{CAB9C45C-7F46-25AA-3C64-9BC7BE9E7E87}" v="1048" dt="2025-12-15T18:51:43.927"/>
    <p1510:client id="{FA9BAD57-15C7-BBB9-3943-BBC938831AC6}" v="1" dt="2025-12-15T16:34:20.1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034CB3-C633-40BB-A0F4-E282AAE7CAE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C86BA6-C952-4749-B2B2-588C11FDC4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l-NL" b="1"/>
            <a:t>Probleem</a:t>
          </a:r>
          <a:endParaRPr lang="en-US"/>
        </a:p>
      </dgm:t>
    </dgm:pt>
    <dgm:pt modelId="{7B158F02-46D4-464A-9220-11E22112C4FD}" type="parTrans" cxnId="{4FC882E6-247C-458B-82D4-AC67C65B764A}">
      <dgm:prSet/>
      <dgm:spPr/>
      <dgm:t>
        <a:bodyPr/>
        <a:lstStyle/>
        <a:p>
          <a:endParaRPr lang="en-US"/>
        </a:p>
      </dgm:t>
    </dgm:pt>
    <dgm:pt modelId="{FC72C5FE-4A87-4E07-94AD-787D527F781C}" type="sibTrans" cxnId="{4FC882E6-247C-458B-82D4-AC67C65B764A}">
      <dgm:prSet/>
      <dgm:spPr/>
      <dgm:t>
        <a:bodyPr/>
        <a:lstStyle/>
        <a:p>
          <a:endParaRPr lang="en-US"/>
        </a:p>
      </dgm:t>
    </dgm:pt>
    <dgm:pt modelId="{7ECBAC6E-F603-41CC-8E41-DEB392E67D10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Manuele planning van wijnleveringen</a:t>
          </a:r>
          <a:endParaRPr lang="en-US"/>
        </a:p>
      </dgm:t>
    </dgm:pt>
    <dgm:pt modelId="{4344FF2A-B7BB-47A3-9580-60C515AAF4A6}" type="parTrans" cxnId="{405AC5EE-1FAE-4231-81C1-D5BFC3A81AC2}">
      <dgm:prSet/>
      <dgm:spPr/>
      <dgm:t>
        <a:bodyPr/>
        <a:lstStyle/>
        <a:p>
          <a:endParaRPr lang="en-US"/>
        </a:p>
      </dgm:t>
    </dgm:pt>
    <dgm:pt modelId="{03A5143C-0F8C-419A-95F8-2F71620037EC}" type="sibTrans" cxnId="{405AC5EE-1FAE-4231-81C1-D5BFC3A81AC2}">
      <dgm:prSet/>
      <dgm:spPr/>
      <dgm:t>
        <a:bodyPr/>
        <a:lstStyle/>
        <a:p>
          <a:endParaRPr lang="en-US"/>
        </a:p>
      </dgm:t>
    </dgm:pt>
    <dgm:pt modelId="{B287E538-F4C6-4DC3-8804-05DAC0AC4A2E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Geen overzicht van routes, gewicht en status</a:t>
          </a:r>
          <a:endParaRPr lang="en-US"/>
        </a:p>
      </dgm:t>
    </dgm:pt>
    <dgm:pt modelId="{6AE3F62A-28F8-4EE5-A041-271C8BDB64B9}" type="parTrans" cxnId="{FD5EE879-AE74-42D0-A16B-3C2A082AE601}">
      <dgm:prSet/>
      <dgm:spPr/>
      <dgm:t>
        <a:bodyPr/>
        <a:lstStyle/>
        <a:p>
          <a:endParaRPr lang="en-US"/>
        </a:p>
      </dgm:t>
    </dgm:pt>
    <dgm:pt modelId="{D25CF0D3-1BA1-4C18-94A3-6EC593DE462F}" type="sibTrans" cxnId="{FD5EE879-AE74-42D0-A16B-3C2A082AE601}">
      <dgm:prSet/>
      <dgm:spPr/>
      <dgm:t>
        <a:bodyPr/>
        <a:lstStyle/>
        <a:p>
          <a:endParaRPr lang="en-US"/>
        </a:p>
      </dgm:t>
    </dgm:pt>
    <dgm:pt modelId="{F99A305C-B8F6-48BF-8A2E-22310074EAB1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Moeilijke communicatie tussen admin en chauffeur</a:t>
          </a:r>
          <a:endParaRPr lang="en-US"/>
        </a:p>
      </dgm:t>
    </dgm:pt>
    <dgm:pt modelId="{5308B6E4-730A-4F70-B19C-B428ACD41495}" type="parTrans" cxnId="{FBF43939-0030-49D5-8CB4-699A23455C5A}">
      <dgm:prSet/>
      <dgm:spPr/>
      <dgm:t>
        <a:bodyPr/>
        <a:lstStyle/>
        <a:p>
          <a:endParaRPr lang="en-US"/>
        </a:p>
      </dgm:t>
    </dgm:pt>
    <dgm:pt modelId="{419FF02C-0130-4BAD-83EA-C919630F9054}" type="sibTrans" cxnId="{FBF43939-0030-49D5-8CB4-699A23455C5A}">
      <dgm:prSet/>
      <dgm:spPr/>
      <dgm:t>
        <a:bodyPr/>
        <a:lstStyle/>
        <a:p>
          <a:endParaRPr lang="en-US"/>
        </a:p>
      </dgm:t>
    </dgm:pt>
    <dgm:pt modelId="{3DCB9588-5857-4888-B95A-319ABBCC53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l-NL" b="1"/>
            <a:t>Oplossing</a:t>
          </a:r>
          <a:endParaRPr lang="en-US"/>
        </a:p>
      </dgm:t>
    </dgm:pt>
    <dgm:pt modelId="{FBEBAA61-9A79-4477-A38F-5E92689FB675}" type="parTrans" cxnId="{53B1F95E-9D3B-40B2-86A1-0A6BD6CCD610}">
      <dgm:prSet/>
      <dgm:spPr/>
      <dgm:t>
        <a:bodyPr/>
        <a:lstStyle/>
        <a:p>
          <a:endParaRPr lang="en-US"/>
        </a:p>
      </dgm:t>
    </dgm:pt>
    <dgm:pt modelId="{6DB4DB28-C75F-4634-9E24-601F405D288B}" type="sibTrans" cxnId="{53B1F95E-9D3B-40B2-86A1-0A6BD6CCD610}">
      <dgm:prSet/>
      <dgm:spPr/>
      <dgm:t>
        <a:bodyPr/>
        <a:lstStyle/>
        <a:p>
          <a:endParaRPr lang="en-US"/>
        </a:p>
      </dgm:t>
    </dgm:pt>
    <dgm:pt modelId="{BAE7D176-A94E-487E-A205-6B34034CE217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Webapplicatie voor routeplanning en levering opvolging</a:t>
          </a:r>
          <a:endParaRPr lang="en-US"/>
        </a:p>
      </dgm:t>
    </dgm:pt>
    <dgm:pt modelId="{5D044825-B732-4E3D-9950-50A26D1D2702}" type="parTrans" cxnId="{5CA832AD-95E0-4108-BED5-8E16C4AED434}">
      <dgm:prSet/>
      <dgm:spPr/>
      <dgm:t>
        <a:bodyPr/>
        <a:lstStyle/>
        <a:p>
          <a:endParaRPr lang="en-US"/>
        </a:p>
      </dgm:t>
    </dgm:pt>
    <dgm:pt modelId="{88F86C22-6DE6-49DC-9A8F-7FFFE66DAD33}" type="sibTrans" cxnId="{5CA832AD-95E0-4108-BED5-8E16C4AED434}">
      <dgm:prSet/>
      <dgm:spPr/>
      <dgm:t>
        <a:bodyPr/>
        <a:lstStyle/>
        <a:p>
          <a:endParaRPr lang="en-US"/>
        </a:p>
      </dgm:t>
    </dgm:pt>
    <dgm:pt modelId="{1C5253C6-DE1E-4A44-8EA1-FCB6566A86AE}" type="pres">
      <dgm:prSet presAssocID="{97034CB3-C633-40BB-A0F4-E282AAE7CAE4}" presName="root" presStyleCnt="0">
        <dgm:presLayoutVars>
          <dgm:dir/>
          <dgm:resizeHandles val="exact"/>
        </dgm:presLayoutVars>
      </dgm:prSet>
      <dgm:spPr/>
    </dgm:pt>
    <dgm:pt modelId="{975AA84C-5B4D-40C6-BFD9-D2C9EBD7BA8F}" type="pres">
      <dgm:prSet presAssocID="{EBC86BA6-C952-4749-B2B2-588C11FDC430}" presName="compNode" presStyleCnt="0"/>
      <dgm:spPr/>
    </dgm:pt>
    <dgm:pt modelId="{2C49B50A-669A-4448-BCB9-24286B8ADC1B}" type="pres">
      <dgm:prSet presAssocID="{EBC86BA6-C952-4749-B2B2-588C11FDC43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kje"/>
        </a:ext>
      </dgm:extLst>
    </dgm:pt>
    <dgm:pt modelId="{F538153E-73F2-4948-8B98-3356EE625639}" type="pres">
      <dgm:prSet presAssocID="{EBC86BA6-C952-4749-B2B2-588C11FDC430}" presName="iconSpace" presStyleCnt="0"/>
      <dgm:spPr/>
    </dgm:pt>
    <dgm:pt modelId="{0A82089F-32D0-42D4-BB2C-14E805BF8A72}" type="pres">
      <dgm:prSet presAssocID="{EBC86BA6-C952-4749-B2B2-588C11FDC430}" presName="parTx" presStyleLbl="revTx" presStyleIdx="0" presStyleCnt="4">
        <dgm:presLayoutVars>
          <dgm:chMax val="0"/>
          <dgm:chPref val="0"/>
        </dgm:presLayoutVars>
      </dgm:prSet>
      <dgm:spPr/>
    </dgm:pt>
    <dgm:pt modelId="{DEE70E59-120D-42AA-937B-54C4E4C1A674}" type="pres">
      <dgm:prSet presAssocID="{EBC86BA6-C952-4749-B2B2-588C11FDC430}" presName="txSpace" presStyleCnt="0"/>
      <dgm:spPr/>
    </dgm:pt>
    <dgm:pt modelId="{19D92245-6F1D-429E-B5DE-FFE49441356F}" type="pres">
      <dgm:prSet presAssocID="{EBC86BA6-C952-4749-B2B2-588C11FDC430}" presName="desTx" presStyleLbl="revTx" presStyleIdx="1" presStyleCnt="4">
        <dgm:presLayoutVars/>
      </dgm:prSet>
      <dgm:spPr/>
    </dgm:pt>
    <dgm:pt modelId="{7C9F2475-64BF-40BB-B2D9-C0EEA9D2CC05}" type="pres">
      <dgm:prSet presAssocID="{FC72C5FE-4A87-4E07-94AD-787D527F781C}" presName="sibTrans" presStyleCnt="0"/>
      <dgm:spPr/>
    </dgm:pt>
    <dgm:pt modelId="{5D350110-DC63-4667-9BAA-0D6E682C5660}" type="pres">
      <dgm:prSet presAssocID="{3DCB9588-5857-4888-B95A-319ABBCC53F6}" presName="compNode" presStyleCnt="0"/>
      <dgm:spPr/>
    </dgm:pt>
    <dgm:pt modelId="{57CF1859-3CF2-437F-AF91-5DDEA8E792F9}" type="pres">
      <dgm:prSet presAssocID="{3DCB9588-5857-4888-B95A-319ABBCC53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bruikers"/>
        </a:ext>
      </dgm:extLst>
    </dgm:pt>
    <dgm:pt modelId="{DDB58658-D21C-4A1C-B2D2-4695F276E48E}" type="pres">
      <dgm:prSet presAssocID="{3DCB9588-5857-4888-B95A-319ABBCC53F6}" presName="iconSpace" presStyleCnt="0"/>
      <dgm:spPr/>
    </dgm:pt>
    <dgm:pt modelId="{679DF518-5419-4A5F-AA48-C84E12A83E70}" type="pres">
      <dgm:prSet presAssocID="{3DCB9588-5857-4888-B95A-319ABBCC53F6}" presName="parTx" presStyleLbl="revTx" presStyleIdx="2" presStyleCnt="4">
        <dgm:presLayoutVars>
          <dgm:chMax val="0"/>
          <dgm:chPref val="0"/>
        </dgm:presLayoutVars>
      </dgm:prSet>
      <dgm:spPr/>
    </dgm:pt>
    <dgm:pt modelId="{C0724B45-35BC-40B9-8247-503D08FE032A}" type="pres">
      <dgm:prSet presAssocID="{3DCB9588-5857-4888-B95A-319ABBCC53F6}" presName="txSpace" presStyleCnt="0"/>
      <dgm:spPr/>
    </dgm:pt>
    <dgm:pt modelId="{20E47685-2A8E-496D-8BFA-141E24B4C268}" type="pres">
      <dgm:prSet presAssocID="{3DCB9588-5857-4888-B95A-319ABBCC53F6}" presName="desTx" presStyleLbl="revTx" presStyleIdx="3" presStyleCnt="4">
        <dgm:presLayoutVars/>
      </dgm:prSet>
      <dgm:spPr/>
    </dgm:pt>
  </dgm:ptLst>
  <dgm:cxnLst>
    <dgm:cxn modelId="{C6FF870A-05EB-4A8C-8A91-E2892730F2A8}" type="presOf" srcId="{7ECBAC6E-F603-41CC-8E41-DEB392E67D10}" destId="{19D92245-6F1D-429E-B5DE-FFE49441356F}" srcOrd="0" destOrd="0" presId="urn:microsoft.com/office/officeart/2018/5/layout/CenteredIconLabelDescriptionList"/>
    <dgm:cxn modelId="{C0DB7D19-0FB4-4F9E-BEA1-24D49BC4911D}" type="presOf" srcId="{BAE7D176-A94E-487E-A205-6B34034CE217}" destId="{20E47685-2A8E-496D-8BFA-141E24B4C268}" srcOrd="0" destOrd="0" presId="urn:microsoft.com/office/officeart/2018/5/layout/CenteredIconLabelDescriptionList"/>
    <dgm:cxn modelId="{9E5A322A-F0FD-4A16-96B2-BF900B65AB2B}" type="presOf" srcId="{B287E538-F4C6-4DC3-8804-05DAC0AC4A2E}" destId="{19D92245-6F1D-429E-B5DE-FFE49441356F}" srcOrd="0" destOrd="1" presId="urn:microsoft.com/office/officeart/2018/5/layout/CenteredIconLabelDescriptionList"/>
    <dgm:cxn modelId="{6E2FE334-E148-4A1A-8299-A5CC28CF7AD2}" type="presOf" srcId="{F99A305C-B8F6-48BF-8A2E-22310074EAB1}" destId="{19D92245-6F1D-429E-B5DE-FFE49441356F}" srcOrd="0" destOrd="2" presId="urn:microsoft.com/office/officeart/2018/5/layout/CenteredIconLabelDescriptionList"/>
    <dgm:cxn modelId="{FBF43939-0030-49D5-8CB4-699A23455C5A}" srcId="{EBC86BA6-C952-4749-B2B2-588C11FDC430}" destId="{F99A305C-B8F6-48BF-8A2E-22310074EAB1}" srcOrd="2" destOrd="0" parTransId="{5308B6E4-730A-4F70-B19C-B428ACD41495}" sibTransId="{419FF02C-0130-4BAD-83EA-C919630F9054}"/>
    <dgm:cxn modelId="{A6390740-C602-4CDB-89B5-1CB415055992}" type="presOf" srcId="{EBC86BA6-C952-4749-B2B2-588C11FDC430}" destId="{0A82089F-32D0-42D4-BB2C-14E805BF8A72}" srcOrd="0" destOrd="0" presId="urn:microsoft.com/office/officeart/2018/5/layout/CenteredIconLabelDescriptionList"/>
    <dgm:cxn modelId="{53B1F95E-9D3B-40B2-86A1-0A6BD6CCD610}" srcId="{97034CB3-C633-40BB-A0F4-E282AAE7CAE4}" destId="{3DCB9588-5857-4888-B95A-319ABBCC53F6}" srcOrd="1" destOrd="0" parTransId="{FBEBAA61-9A79-4477-A38F-5E92689FB675}" sibTransId="{6DB4DB28-C75F-4634-9E24-601F405D288B}"/>
    <dgm:cxn modelId="{FD5EE879-AE74-42D0-A16B-3C2A082AE601}" srcId="{EBC86BA6-C952-4749-B2B2-588C11FDC430}" destId="{B287E538-F4C6-4DC3-8804-05DAC0AC4A2E}" srcOrd="1" destOrd="0" parTransId="{6AE3F62A-28F8-4EE5-A041-271C8BDB64B9}" sibTransId="{D25CF0D3-1BA1-4C18-94A3-6EC593DE462F}"/>
    <dgm:cxn modelId="{5CA832AD-95E0-4108-BED5-8E16C4AED434}" srcId="{3DCB9588-5857-4888-B95A-319ABBCC53F6}" destId="{BAE7D176-A94E-487E-A205-6B34034CE217}" srcOrd="0" destOrd="0" parTransId="{5D044825-B732-4E3D-9950-50A26D1D2702}" sibTransId="{88F86C22-6DE6-49DC-9A8F-7FFFE66DAD33}"/>
    <dgm:cxn modelId="{DBC9FBD1-59C8-44B3-8D5D-E8DA93696E07}" type="presOf" srcId="{3DCB9588-5857-4888-B95A-319ABBCC53F6}" destId="{679DF518-5419-4A5F-AA48-C84E12A83E70}" srcOrd="0" destOrd="0" presId="urn:microsoft.com/office/officeart/2018/5/layout/CenteredIconLabelDescriptionList"/>
    <dgm:cxn modelId="{9B8783D4-E66C-47BA-94F1-436F8C1C5092}" type="presOf" srcId="{97034CB3-C633-40BB-A0F4-E282AAE7CAE4}" destId="{1C5253C6-DE1E-4A44-8EA1-FCB6566A86AE}" srcOrd="0" destOrd="0" presId="urn:microsoft.com/office/officeart/2018/5/layout/CenteredIconLabelDescriptionList"/>
    <dgm:cxn modelId="{4FC882E6-247C-458B-82D4-AC67C65B764A}" srcId="{97034CB3-C633-40BB-A0F4-E282AAE7CAE4}" destId="{EBC86BA6-C952-4749-B2B2-588C11FDC430}" srcOrd="0" destOrd="0" parTransId="{7B158F02-46D4-464A-9220-11E22112C4FD}" sibTransId="{FC72C5FE-4A87-4E07-94AD-787D527F781C}"/>
    <dgm:cxn modelId="{405AC5EE-1FAE-4231-81C1-D5BFC3A81AC2}" srcId="{EBC86BA6-C952-4749-B2B2-588C11FDC430}" destId="{7ECBAC6E-F603-41CC-8E41-DEB392E67D10}" srcOrd="0" destOrd="0" parTransId="{4344FF2A-B7BB-47A3-9580-60C515AAF4A6}" sibTransId="{03A5143C-0F8C-419A-95F8-2F71620037EC}"/>
    <dgm:cxn modelId="{4B17B307-B13A-4106-8445-0945949CE3A0}" type="presParOf" srcId="{1C5253C6-DE1E-4A44-8EA1-FCB6566A86AE}" destId="{975AA84C-5B4D-40C6-BFD9-D2C9EBD7BA8F}" srcOrd="0" destOrd="0" presId="urn:microsoft.com/office/officeart/2018/5/layout/CenteredIconLabelDescriptionList"/>
    <dgm:cxn modelId="{9D2A640E-1C5E-42CC-A9EA-380788CD10D3}" type="presParOf" srcId="{975AA84C-5B4D-40C6-BFD9-D2C9EBD7BA8F}" destId="{2C49B50A-669A-4448-BCB9-24286B8ADC1B}" srcOrd="0" destOrd="0" presId="urn:microsoft.com/office/officeart/2018/5/layout/CenteredIconLabelDescriptionList"/>
    <dgm:cxn modelId="{7D347C94-90E1-4A68-BC3C-0F7D441299F8}" type="presParOf" srcId="{975AA84C-5B4D-40C6-BFD9-D2C9EBD7BA8F}" destId="{F538153E-73F2-4948-8B98-3356EE625639}" srcOrd="1" destOrd="0" presId="urn:microsoft.com/office/officeart/2018/5/layout/CenteredIconLabelDescriptionList"/>
    <dgm:cxn modelId="{0A5A7A4E-3B76-47DB-A94E-848AB24DA3CE}" type="presParOf" srcId="{975AA84C-5B4D-40C6-BFD9-D2C9EBD7BA8F}" destId="{0A82089F-32D0-42D4-BB2C-14E805BF8A72}" srcOrd="2" destOrd="0" presId="urn:microsoft.com/office/officeart/2018/5/layout/CenteredIconLabelDescriptionList"/>
    <dgm:cxn modelId="{724DD057-6767-42B7-859C-1A52F1B57171}" type="presParOf" srcId="{975AA84C-5B4D-40C6-BFD9-D2C9EBD7BA8F}" destId="{DEE70E59-120D-42AA-937B-54C4E4C1A674}" srcOrd="3" destOrd="0" presId="urn:microsoft.com/office/officeart/2018/5/layout/CenteredIconLabelDescriptionList"/>
    <dgm:cxn modelId="{980A8020-C92B-4060-A905-9EBE532AA334}" type="presParOf" srcId="{975AA84C-5B4D-40C6-BFD9-D2C9EBD7BA8F}" destId="{19D92245-6F1D-429E-B5DE-FFE49441356F}" srcOrd="4" destOrd="0" presId="urn:microsoft.com/office/officeart/2018/5/layout/CenteredIconLabelDescriptionList"/>
    <dgm:cxn modelId="{025AD24E-9130-4912-9CD5-51C6688A076B}" type="presParOf" srcId="{1C5253C6-DE1E-4A44-8EA1-FCB6566A86AE}" destId="{7C9F2475-64BF-40BB-B2D9-C0EEA9D2CC05}" srcOrd="1" destOrd="0" presId="urn:microsoft.com/office/officeart/2018/5/layout/CenteredIconLabelDescriptionList"/>
    <dgm:cxn modelId="{D1BF2F87-5827-46FE-A223-9CE3007CF9A8}" type="presParOf" srcId="{1C5253C6-DE1E-4A44-8EA1-FCB6566A86AE}" destId="{5D350110-DC63-4667-9BAA-0D6E682C5660}" srcOrd="2" destOrd="0" presId="urn:microsoft.com/office/officeart/2018/5/layout/CenteredIconLabelDescriptionList"/>
    <dgm:cxn modelId="{D3E3FA65-E680-4A13-8799-38DB64B08B7C}" type="presParOf" srcId="{5D350110-DC63-4667-9BAA-0D6E682C5660}" destId="{57CF1859-3CF2-437F-AF91-5DDEA8E792F9}" srcOrd="0" destOrd="0" presId="urn:microsoft.com/office/officeart/2018/5/layout/CenteredIconLabelDescriptionList"/>
    <dgm:cxn modelId="{2C32FDC7-39B2-4EEE-A298-96D83233D5DB}" type="presParOf" srcId="{5D350110-DC63-4667-9BAA-0D6E682C5660}" destId="{DDB58658-D21C-4A1C-B2D2-4695F276E48E}" srcOrd="1" destOrd="0" presId="urn:microsoft.com/office/officeart/2018/5/layout/CenteredIconLabelDescriptionList"/>
    <dgm:cxn modelId="{4D932824-8E27-4263-95EE-B202B73DBCD9}" type="presParOf" srcId="{5D350110-DC63-4667-9BAA-0D6E682C5660}" destId="{679DF518-5419-4A5F-AA48-C84E12A83E70}" srcOrd="2" destOrd="0" presId="urn:microsoft.com/office/officeart/2018/5/layout/CenteredIconLabelDescriptionList"/>
    <dgm:cxn modelId="{F7688518-9647-4BB0-8920-AB3653EAC341}" type="presParOf" srcId="{5D350110-DC63-4667-9BAA-0D6E682C5660}" destId="{C0724B45-35BC-40B9-8247-503D08FE032A}" srcOrd="3" destOrd="0" presId="urn:microsoft.com/office/officeart/2018/5/layout/CenteredIconLabelDescriptionList"/>
    <dgm:cxn modelId="{742E2B03-2192-4326-B75F-1B62BD498F52}" type="presParOf" srcId="{5D350110-DC63-4667-9BAA-0D6E682C5660}" destId="{20E47685-2A8E-496D-8BFA-141E24B4C26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3F0F05-3827-4343-A5D6-D6567CF44BD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47595A-D917-4643-BF64-B618034CA121}">
      <dgm:prSet/>
      <dgm:spPr/>
      <dgm:t>
        <a:bodyPr/>
        <a:lstStyle/>
        <a:p>
          <a:pPr>
            <a:lnSpc>
              <a:spcPct val="100000"/>
            </a:lnSpc>
          </a:pPr>
          <a:r>
            <a:rPr lang="nl-BE" b="0" i="0" u="none"/>
            <a:t>Creëert</a:t>
          </a:r>
          <a:r>
            <a:rPr lang="nl-BE"/>
            <a:t> optimale route van een aantal bestellingen </a:t>
          </a:r>
          <a:endParaRPr lang="en-US"/>
        </a:p>
      </dgm:t>
    </dgm:pt>
    <dgm:pt modelId="{E3C0B61F-D680-4017-BFB5-B73F2FD935DE}" type="parTrans" cxnId="{A69B7093-8D0F-4BE0-8938-B4182234907B}">
      <dgm:prSet/>
      <dgm:spPr/>
      <dgm:t>
        <a:bodyPr/>
        <a:lstStyle/>
        <a:p>
          <a:endParaRPr lang="en-US"/>
        </a:p>
      </dgm:t>
    </dgm:pt>
    <dgm:pt modelId="{6463E170-05B4-4783-9F69-56F68A1007B1}" type="sibTrans" cxnId="{A69B7093-8D0F-4BE0-8938-B4182234907B}">
      <dgm:prSet/>
      <dgm:spPr/>
      <dgm:t>
        <a:bodyPr/>
        <a:lstStyle/>
        <a:p>
          <a:endParaRPr lang="en-US"/>
        </a:p>
      </dgm:t>
    </dgm:pt>
    <dgm:pt modelId="{5AC4D1F1-E78B-44AD-AB90-004782F6D2A4}">
      <dgm:prSet/>
      <dgm:spPr/>
      <dgm:t>
        <a:bodyPr/>
        <a:lstStyle/>
        <a:p>
          <a:pPr>
            <a:lnSpc>
              <a:spcPct val="100000"/>
            </a:lnSpc>
          </a:pPr>
          <a:r>
            <a:rPr lang="nl-BE"/>
            <a:t>We hebben een Mapbox API gebruikt die bestellingsadressen omzet in coördinaten</a:t>
          </a:r>
          <a:endParaRPr lang="en-US"/>
        </a:p>
      </dgm:t>
    </dgm:pt>
    <dgm:pt modelId="{F407F32C-5329-497B-84FA-5E545C3DA60C}" type="parTrans" cxnId="{C3B41D6E-7998-4CDF-8F2B-C6E4DC56C2CC}">
      <dgm:prSet/>
      <dgm:spPr/>
      <dgm:t>
        <a:bodyPr/>
        <a:lstStyle/>
        <a:p>
          <a:endParaRPr lang="en-US"/>
        </a:p>
      </dgm:t>
    </dgm:pt>
    <dgm:pt modelId="{4A64C0B9-97C7-4AF2-8DD4-5B9D2E69F110}" type="sibTrans" cxnId="{C3B41D6E-7998-4CDF-8F2B-C6E4DC56C2CC}">
      <dgm:prSet/>
      <dgm:spPr/>
      <dgm:t>
        <a:bodyPr/>
        <a:lstStyle/>
        <a:p>
          <a:endParaRPr lang="en-US"/>
        </a:p>
      </dgm:t>
    </dgm:pt>
    <dgm:pt modelId="{4B4CBE02-6100-46DB-AE92-710A290DE7D0}">
      <dgm:prSet/>
      <dgm:spPr/>
      <dgm:t>
        <a:bodyPr/>
        <a:lstStyle/>
        <a:p>
          <a:pPr>
            <a:lnSpc>
              <a:spcPct val="100000"/>
            </a:lnSpc>
          </a:pPr>
          <a:r>
            <a:rPr lang="nl-BE"/>
            <a:t>We hebben een 2</a:t>
          </a:r>
          <a:r>
            <a:rPr lang="nl-BE" baseline="30000"/>
            <a:t>e</a:t>
          </a:r>
          <a:r>
            <a:rPr lang="nl-BE"/>
            <a:t> Mapbox API gebruikt om de reisduur tussen de coördinaten te berekenen </a:t>
          </a:r>
          <a:endParaRPr lang="en-US"/>
        </a:p>
      </dgm:t>
    </dgm:pt>
    <dgm:pt modelId="{7F5EA419-147F-461E-8813-EA7CDF92C39B}" type="parTrans" cxnId="{E7B6CB25-F6B1-4B97-8EED-6F3BFA97865D}">
      <dgm:prSet/>
      <dgm:spPr/>
      <dgm:t>
        <a:bodyPr/>
        <a:lstStyle/>
        <a:p>
          <a:endParaRPr lang="en-US"/>
        </a:p>
      </dgm:t>
    </dgm:pt>
    <dgm:pt modelId="{4C76A727-CDAD-489C-AF02-0278417E7A21}" type="sibTrans" cxnId="{E7B6CB25-F6B1-4B97-8EED-6F3BFA97865D}">
      <dgm:prSet/>
      <dgm:spPr/>
      <dgm:t>
        <a:bodyPr/>
        <a:lstStyle/>
        <a:p>
          <a:endParaRPr lang="en-US"/>
        </a:p>
      </dgm:t>
    </dgm:pt>
    <dgm:pt modelId="{A4430221-9170-4A75-A6D7-5A1F4D10E19D}" type="pres">
      <dgm:prSet presAssocID="{C83F0F05-3827-4343-A5D6-D6567CF44BDB}" presName="root" presStyleCnt="0">
        <dgm:presLayoutVars>
          <dgm:dir/>
          <dgm:resizeHandles val="exact"/>
        </dgm:presLayoutVars>
      </dgm:prSet>
      <dgm:spPr/>
    </dgm:pt>
    <dgm:pt modelId="{08D49C05-FDAB-4997-AB4A-7894D4C5B58C}" type="pres">
      <dgm:prSet presAssocID="{9F47595A-D917-4643-BF64-B618034CA121}" presName="compNode" presStyleCnt="0"/>
      <dgm:spPr/>
    </dgm:pt>
    <dgm:pt modelId="{787DFFD1-D8BB-40BB-B47D-80A9EDFEA0FD}" type="pres">
      <dgm:prSet presAssocID="{9F47595A-D917-4643-BF64-B618034CA121}" presName="bgRect" presStyleLbl="bgShp" presStyleIdx="0" presStyleCnt="3"/>
      <dgm:spPr/>
    </dgm:pt>
    <dgm:pt modelId="{73858E54-9D47-465A-A392-530BC0D76A55}" type="pres">
      <dgm:prSet presAssocID="{9F47595A-D917-4643-BF64-B618034CA1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rachtwagen"/>
        </a:ext>
      </dgm:extLst>
    </dgm:pt>
    <dgm:pt modelId="{1AECB268-9503-4C94-A081-02BBA6679A5A}" type="pres">
      <dgm:prSet presAssocID="{9F47595A-D917-4643-BF64-B618034CA121}" presName="spaceRect" presStyleCnt="0"/>
      <dgm:spPr/>
    </dgm:pt>
    <dgm:pt modelId="{C3A10031-17C5-4F45-B5A9-D3FBDBA78A05}" type="pres">
      <dgm:prSet presAssocID="{9F47595A-D917-4643-BF64-B618034CA121}" presName="parTx" presStyleLbl="revTx" presStyleIdx="0" presStyleCnt="3">
        <dgm:presLayoutVars>
          <dgm:chMax val="0"/>
          <dgm:chPref val="0"/>
        </dgm:presLayoutVars>
      </dgm:prSet>
      <dgm:spPr/>
    </dgm:pt>
    <dgm:pt modelId="{7BE6DB26-41E8-4FCD-A6D2-49E4FC13DE75}" type="pres">
      <dgm:prSet presAssocID="{6463E170-05B4-4783-9F69-56F68A1007B1}" presName="sibTrans" presStyleCnt="0"/>
      <dgm:spPr/>
    </dgm:pt>
    <dgm:pt modelId="{371FB1F1-1DFF-43EA-9187-7B10483F3A80}" type="pres">
      <dgm:prSet presAssocID="{5AC4D1F1-E78B-44AD-AB90-004782F6D2A4}" presName="compNode" presStyleCnt="0"/>
      <dgm:spPr/>
    </dgm:pt>
    <dgm:pt modelId="{A98D37EB-86D7-4E8B-B4D7-831FDAE11AE6}" type="pres">
      <dgm:prSet presAssocID="{5AC4D1F1-E78B-44AD-AB90-004782F6D2A4}" presName="bgRect" presStyleLbl="bgShp" presStyleIdx="1" presStyleCnt="3"/>
      <dgm:spPr/>
    </dgm:pt>
    <dgm:pt modelId="{82DA129D-F5A2-450D-B5B5-5BB5503FB6FD}" type="pres">
      <dgm:prSet presAssocID="{5AC4D1F1-E78B-44AD-AB90-004782F6D2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ing"/>
        </a:ext>
      </dgm:extLst>
    </dgm:pt>
    <dgm:pt modelId="{8111D5AB-20CE-4850-8DF9-7558778997A3}" type="pres">
      <dgm:prSet presAssocID="{5AC4D1F1-E78B-44AD-AB90-004782F6D2A4}" presName="spaceRect" presStyleCnt="0"/>
      <dgm:spPr/>
    </dgm:pt>
    <dgm:pt modelId="{8CE5F12D-DFD3-494D-9E79-67B0D559347A}" type="pres">
      <dgm:prSet presAssocID="{5AC4D1F1-E78B-44AD-AB90-004782F6D2A4}" presName="parTx" presStyleLbl="revTx" presStyleIdx="1" presStyleCnt="3">
        <dgm:presLayoutVars>
          <dgm:chMax val="0"/>
          <dgm:chPref val="0"/>
        </dgm:presLayoutVars>
      </dgm:prSet>
      <dgm:spPr/>
    </dgm:pt>
    <dgm:pt modelId="{2057F0E8-BEC7-4074-AA61-615DA1247672}" type="pres">
      <dgm:prSet presAssocID="{4A64C0B9-97C7-4AF2-8DD4-5B9D2E69F110}" presName="sibTrans" presStyleCnt="0"/>
      <dgm:spPr/>
    </dgm:pt>
    <dgm:pt modelId="{2E7E0286-3464-498B-927D-E4D0E2944BDE}" type="pres">
      <dgm:prSet presAssocID="{4B4CBE02-6100-46DB-AE92-710A290DE7D0}" presName="compNode" presStyleCnt="0"/>
      <dgm:spPr/>
    </dgm:pt>
    <dgm:pt modelId="{66FFBFCC-A88A-43EC-8BAD-20ABCE1651C0}" type="pres">
      <dgm:prSet presAssocID="{4B4CBE02-6100-46DB-AE92-710A290DE7D0}" presName="bgRect" presStyleLbl="bgShp" presStyleIdx="2" presStyleCnt="3"/>
      <dgm:spPr/>
    </dgm:pt>
    <dgm:pt modelId="{BCBD3597-E11E-4012-AC40-2EBB842A1F1C}" type="pres">
      <dgm:prSet presAssocID="{4B4CBE02-6100-46DB-AE92-710A290DE7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C07A33A-DF73-47E1-BB22-526B6AF3D443}" type="pres">
      <dgm:prSet presAssocID="{4B4CBE02-6100-46DB-AE92-710A290DE7D0}" presName="spaceRect" presStyleCnt="0"/>
      <dgm:spPr/>
    </dgm:pt>
    <dgm:pt modelId="{3A172F1E-E1DA-42F8-968E-68B2EF65F581}" type="pres">
      <dgm:prSet presAssocID="{4B4CBE02-6100-46DB-AE92-710A290DE7D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3555610-FC7D-4E78-9858-C242F7BA3903}" type="presOf" srcId="{C83F0F05-3827-4343-A5D6-D6567CF44BDB}" destId="{A4430221-9170-4A75-A6D7-5A1F4D10E19D}" srcOrd="0" destOrd="0" presId="urn:microsoft.com/office/officeart/2018/2/layout/IconVerticalSolidList"/>
    <dgm:cxn modelId="{E7B6CB25-F6B1-4B97-8EED-6F3BFA97865D}" srcId="{C83F0F05-3827-4343-A5D6-D6567CF44BDB}" destId="{4B4CBE02-6100-46DB-AE92-710A290DE7D0}" srcOrd="2" destOrd="0" parTransId="{7F5EA419-147F-461E-8813-EA7CDF92C39B}" sibTransId="{4C76A727-CDAD-489C-AF02-0278417E7A21}"/>
    <dgm:cxn modelId="{54DED36B-62CD-4464-A681-D9CD3EE8C578}" type="presOf" srcId="{9F47595A-D917-4643-BF64-B618034CA121}" destId="{C3A10031-17C5-4F45-B5A9-D3FBDBA78A05}" srcOrd="0" destOrd="0" presId="urn:microsoft.com/office/officeart/2018/2/layout/IconVerticalSolidList"/>
    <dgm:cxn modelId="{C3B41D6E-7998-4CDF-8F2B-C6E4DC56C2CC}" srcId="{C83F0F05-3827-4343-A5D6-D6567CF44BDB}" destId="{5AC4D1F1-E78B-44AD-AB90-004782F6D2A4}" srcOrd="1" destOrd="0" parTransId="{F407F32C-5329-497B-84FA-5E545C3DA60C}" sibTransId="{4A64C0B9-97C7-4AF2-8DD4-5B9D2E69F110}"/>
    <dgm:cxn modelId="{A69B7093-8D0F-4BE0-8938-B4182234907B}" srcId="{C83F0F05-3827-4343-A5D6-D6567CF44BDB}" destId="{9F47595A-D917-4643-BF64-B618034CA121}" srcOrd="0" destOrd="0" parTransId="{E3C0B61F-D680-4017-BFB5-B73F2FD935DE}" sibTransId="{6463E170-05B4-4783-9F69-56F68A1007B1}"/>
    <dgm:cxn modelId="{34B669C7-41E4-4910-B65B-AFF192ED9176}" type="presOf" srcId="{4B4CBE02-6100-46DB-AE92-710A290DE7D0}" destId="{3A172F1E-E1DA-42F8-968E-68B2EF65F581}" srcOrd="0" destOrd="0" presId="urn:microsoft.com/office/officeart/2018/2/layout/IconVerticalSolidList"/>
    <dgm:cxn modelId="{078655FD-EFDE-421F-A72B-9C2D90C95528}" type="presOf" srcId="{5AC4D1F1-E78B-44AD-AB90-004782F6D2A4}" destId="{8CE5F12D-DFD3-494D-9E79-67B0D559347A}" srcOrd="0" destOrd="0" presId="urn:microsoft.com/office/officeart/2018/2/layout/IconVerticalSolidList"/>
    <dgm:cxn modelId="{A4B77E86-88FB-462A-9D21-BCBBABA7FBBE}" type="presParOf" srcId="{A4430221-9170-4A75-A6D7-5A1F4D10E19D}" destId="{08D49C05-FDAB-4997-AB4A-7894D4C5B58C}" srcOrd="0" destOrd="0" presId="urn:microsoft.com/office/officeart/2018/2/layout/IconVerticalSolidList"/>
    <dgm:cxn modelId="{109B59B4-6700-4CAC-AE05-D704DB203325}" type="presParOf" srcId="{08D49C05-FDAB-4997-AB4A-7894D4C5B58C}" destId="{787DFFD1-D8BB-40BB-B47D-80A9EDFEA0FD}" srcOrd="0" destOrd="0" presId="urn:microsoft.com/office/officeart/2018/2/layout/IconVerticalSolidList"/>
    <dgm:cxn modelId="{03306BAF-F955-4F8B-86DB-9DD643BDEE85}" type="presParOf" srcId="{08D49C05-FDAB-4997-AB4A-7894D4C5B58C}" destId="{73858E54-9D47-465A-A392-530BC0D76A55}" srcOrd="1" destOrd="0" presId="urn:microsoft.com/office/officeart/2018/2/layout/IconVerticalSolidList"/>
    <dgm:cxn modelId="{70436E01-5EDF-40AC-8EEE-2B30304016B5}" type="presParOf" srcId="{08D49C05-FDAB-4997-AB4A-7894D4C5B58C}" destId="{1AECB268-9503-4C94-A081-02BBA6679A5A}" srcOrd="2" destOrd="0" presId="urn:microsoft.com/office/officeart/2018/2/layout/IconVerticalSolidList"/>
    <dgm:cxn modelId="{798A7A5C-A30E-4C7D-BD03-986623D4073C}" type="presParOf" srcId="{08D49C05-FDAB-4997-AB4A-7894D4C5B58C}" destId="{C3A10031-17C5-4F45-B5A9-D3FBDBA78A05}" srcOrd="3" destOrd="0" presId="urn:microsoft.com/office/officeart/2018/2/layout/IconVerticalSolidList"/>
    <dgm:cxn modelId="{442CE1D3-93EC-4DE6-A3AB-0A6F71896BDE}" type="presParOf" srcId="{A4430221-9170-4A75-A6D7-5A1F4D10E19D}" destId="{7BE6DB26-41E8-4FCD-A6D2-49E4FC13DE75}" srcOrd="1" destOrd="0" presId="urn:microsoft.com/office/officeart/2018/2/layout/IconVerticalSolidList"/>
    <dgm:cxn modelId="{03995C7B-A303-49A0-80DE-19156429FA2A}" type="presParOf" srcId="{A4430221-9170-4A75-A6D7-5A1F4D10E19D}" destId="{371FB1F1-1DFF-43EA-9187-7B10483F3A80}" srcOrd="2" destOrd="0" presId="urn:microsoft.com/office/officeart/2018/2/layout/IconVerticalSolidList"/>
    <dgm:cxn modelId="{33FD17D8-EC24-4D22-85FE-33379242664A}" type="presParOf" srcId="{371FB1F1-1DFF-43EA-9187-7B10483F3A80}" destId="{A98D37EB-86D7-4E8B-B4D7-831FDAE11AE6}" srcOrd="0" destOrd="0" presId="urn:microsoft.com/office/officeart/2018/2/layout/IconVerticalSolidList"/>
    <dgm:cxn modelId="{515CB9A3-1020-4154-A9C9-71A8FD4B5407}" type="presParOf" srcId="{371FB1F1-1DFF-43EA-9187-7B10483F3A80}" destId="{82DA129D-F5A2-450D-B5B5-5BB5503FB6FD}" srcOrd="1" destOrd="0" presId="urn:microsoft.com/office/officeart/2018/2/layout/IconVerticalSolidList"/>
    <dgm:cxn modelId="{EC4291F4-5D1B-4BE2-B1AF-6054C4F2B0A1}" type="presParOf" srcId="{371FB1F1-1DFF-43EA-9187-7B10483F3A80}" destId="{8111D5AB-20CE-4850-8DF9-7558778997A3}" srcOrd="2" destOrd="0" presId="urn:microsoft.com/office/officeart/2018/2/layout/IconVerticalSolidList"/>
    <dgm:cxn modelId="{911C912D-64E1-4CC3-BAA8-ABD9207B36D8}" type="presParOf" srcId="{371FB1F1-1DFF-43EA-9187-7B10483F3A80}" destId="{8CE5F12D-DFD3-494D-9E79-67B0D559347A}" srcOrd="3" destOrd="0" presId="urn:microsoft.com/office/officeart/2018/2/layout/IconVerticalSolidList"/>
    <dgm:cxn modelId="{71666415-4720-4AAE-8E1A-3A3EE3ADA719}" type="presParOf" srcId="{A4430221-9170-4A75-A6D7-5A1F4D10E19D}" destId="{2057F0E8-BEC7-4074-AA61-615DA1247672}" srcOrd="3" destOrd="0" presId="urn:microsoft.com/office/officeart/2018/2/layout/IconVerticalSolidList"/>
    <dgm:cxn modelId="{E1436DC1-971B-4AF4-8BE0-0919F76F06C5}" type="presParOf" srcId="{A4430221-9170-4A75-A6D7-5A1F4D10E19D}" destId="{2E7E0286-3464-498B-927D-E4D0E2944BDE}" srcOrd="4" destOrd="0" presId="urn:microsoft.com/office/officeart/2018/2/layout/IconVerticalSolidList"/>
    <dgm:cxn modelId="{23AF4296-00BA-4DA8-AA32-CA0E9F1C2F17}" type="presParOf" srcId="{2E7E0286-3464-498B-927D-E4D0E2944BDE}" destId="{66FFBFCC-A88A-43EC-8BAD-20ABCE1651C0}" srcOrd="0" destOrd="0" presId="urn:microsoft.com/office/officeart/2018/2/layout/IconVerticalSolidList"/>
    <dgm:cxn modelId="{0079CF86-5A62-491B-B179-47DF75C85C65}" type="presParOf" srcId="{2E7E0286-3464-498B-927D-E4D0E2944BDE}" destId="{BCBD3597-E11E-4012-AC40-2EBB842A1F1C}" srcOrd="1" destOrd="0" presId="urn:microsoft.com/office/officeart/2018/2/layout/IconVerticalSolidList"/>
    <dgm:cxn modelId="{66E07ABA-872C-48B4-87BB-DE5908BC90EA}" type="presParOf" srcId="{2E7E0286-3464-498B-927D-E4D0E2944BDE}" destId="{6C07A33A-DF73-47E1-BB22-526B6AF3D443}" srcOrd="2" destOrd="0" presId="urn:microsoft.com/office/officeart/2018/2/layout/IconVerticalSolidList"/>
    <dgm:cxn modelId="{558379A9-1C2A-4F12-96F0-2C1BF49A48A5}" type="presParOf" srcId="{2E7E0286-3464-498B-927D-E4D0E2944BDE}" destId="{3A172F1E-E1DA-42F8-968E-68B2EF65F5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9B50A-669A-4448-BCB9-24286B8ADC1B}">
      <dsp:nvSpPr>
        <dsp:cNvPr id="0" name=""/>
        <dsp:cNvSpPr/>
      </dsp:nvSpPr>
      <dsp:spPr>
        <a:xfrm>
          <a:off x="1959228" y="43704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2089F-32D0-42D4-BB2C-14E805BF8A72}">
      <dsp:nvSpPr>
        <dsp:cNvPr id="0" name=""/>
        <dsp:cNvSpPr/>
      </dsp:nvSpPr>
      <dsp:spPr>
        <a:xfrm>
          <a:off x="555228" y="21064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nl-NL" sz="3600" b="1" kern="1200"/>
            <a:t>Probleem</a:t>
          </a:r>
          <a:endParaRPr lang="en-US" sz="3600" kern="1200"/>
        </a:p>
      </dsp:txBody>
      <dsp:txXfrm>
        <a:off x="555228" y="2106481"/>
        <a:ext cx="4320000" cy="648000"/>
      </dsp:txXfrm>
    </dsp:sp>
    <dsp:sp modelId="{19D92245-6F1D-429E-B5DE-FFE49441356F}">
      <dsp:nvSpPr>
        <dsp:cNvPr id="0" name=""/>
        <dsp:cNvSpPr/>
      </dsp:nvSpPr>
      <dsp:spPr>
        <a:xfrm>
          <a:off x="555228" y="2827708"/>
          <a:ext cx="4320000" cy="1270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Manuele planning van wijnleveringen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Geen overzicht van routes, gewicht en status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Moeilijke communicatie tussen admin en chauffeur</a:t>
          </a:r>
          <a:endParaRPr lang="en-US" sz="1700" kern="1200"/>
        </a:p>
      </dsp:txBody>
      <dsp:txXfrm>
        <a:off x="555228" y="2827708"/>
        <a:ext cx="4320000" cy="1270672"/>
      </dsp:txXfrm>
    </dsp:sp>
    <dsp:sp modelId="{57CF1859-3CF2-437F-AF91-5DDEA8E792F9}">
      <dsp:nvSpPr>
        <dsp:cNvPr id="0" name=""/>
        <dsp:cNvSpPr/>
      </dsp:nvSpPr>
      <dsp:spPr>
        <a:xfrm>
          <a:off x="7035228" y="43704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DF518-5419-4A5F-AA48-C84E12A83E70}">
      <dsp:nvSpPr>
        <dsp:cNvPr id="0" name=""/>
        <dsp:cNvSpPr/>
      </dsp:nvSpPr>
      <dsp:spPr>
        <a:xfrm>
          <a:off x="5631228" y="21064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nl-NL" sz="3600" b="1" kern="1200"/>
            <a:t>Oplossing</a:t>
          </a:r>
          <a:endParaRPr lang="en-US" sz="3600" kern="1200"/>
        </a:p>
      </dsp:txBody>
      <dsp:txXfrm>
        <a:off x="5631228" y="2106481"/>
        <a:ext cx="4320000" cy="648000"/>
      </dsp:txXfrm>
    </dsp:sp>
    <dsp:sp modelId="{20E47685-2A8E-496D-8BFA-141E24B4C268}">
      <dsp:nvSpPr>
        <dsp:cNvPr id="0" name=""/>
        <dsp:cNvSpPr/>
      </dsp:nvSpPr>
      <dsp:spPr>
        <a:xfrm>
          <a:off x="5631228" y="2827708"/>
          <a:ext cx="4320000" cy="1270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Webapplicatie voor routeplanning en levering opvolging</a:t>
          </a:r>
          <a:endParaRPr lang="en-US" sz="1700" kern="1200"/>
        </a:p>
      </dsp:txBody>
      <dsp:txXfrm>
        <a:off x="5631228" y="2827708"/>
        <a:ext cx="4320000" cy="1270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DFFD1-D8BB-40BB-B47D-80A9EDFEA0FD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58E54-9D47-465A-A392-530BC0D76A55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10031-17C5-4F45-B5A9-D3FBDBA78A05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300" b="0" i="0" u="none" kern="1200"/>
            <a:t>Creëert</a:t>
          </a:r>
          <a:r>
            <a:rPr lang="nl-BE" sz="2300" kern="1200"/>
            <a:t> optimale route van een aantal bestellingen </a:t>
          </a:r>
          <a:endParaRPr lang="en-US" sz="2300" kern="1200"/>
        </a:p>
      </dsp:txBody>
      <dsp:txXfrm>
        <a:off x="1819120" y="673"/>
        <a:ext cx="4545103" cy="1574995"/>
      </dsp:txXfrm>
    </dsp:sp>
    <dsp:sp modelId="{A98D37EB-86D7-4E8B-B4D7-831FDAE11AE6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A129D-F5A2-450D-B5B5-5BB5503FB6FD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5F12D-DFD3-494D-9E79-67B0D559347A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300" kern="1200"/>
            <a:t>We hebben een Mapbox API gebruikt die bestellingsadressen omzet in coördinaten</a:t>
          </a:r>
          <a:endParaRPr lang="en-US" sz="2300" kern="1200"/>
        </a:p>
      </dsp:txBody>
      <dsp:txXfrm>
        <a:off x="1819120" y="1969418"/>
        <a:ext cx="4545103" cy="1574995"/>
      </dsp:txXfrm>
    </dsp:sp>
    <dsp:sp modelId="{66FFBFCC-A88A-43EC-8BAD-20ABCE1651C0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D3597-E11E-4012-AC40-2EBB842A1F1C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72F1E-E1DA-42F8-968E-68B2EF65F581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300" kern="1200"/>
            <a:t>We hebben een 2</a:t>
          </a:r>
          <a:r>
            <a:rPr lang="nl-BE" sz="2300" kern="1200" baseline="30000"/>
            <a:t>e</a:t>
          </a:r>
          <a:r>
            <a:rPr lang="nl-BE" sz="2300" kern="1200"/>
            <a:t> Mapbox API gebruikt om de reisduur tussen de coördinaten te berekenen </a:t>
          </a:r>
          <a:endParaRPr lang="en-US" sz="2300" kern="1200"/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8736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547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7435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0457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579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44052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608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3956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469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889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54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A2177-F987-6D45-BE18-574C5F685186}" type="datetimeFigureOut">
              <a:rPr lang="nl-BE" smtClean="0"/>
              <a:t>15/12/2025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F1DDF-C771-8C45-9793-085C1B245BC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0760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D1FFD7-31D2-4D41-05CE-E5B1CA9DD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nl-BE" sz="6600" dirty="0"/>
              <a:t>Project A&amp;D en DBS </a:t>
            </a:r>
            <a:br>
              <a:rPr lang="nl-BE" sz="6600" dirty="0">
                <a:latin typeface="Aptos Display"/>
              </a:rPr>
            </a:br>
            <a:r>
              <a:rPr lang="nl-BE" sz="1600" dirty="0">
                <a:latin typeface="Aptos"/>
              </a:rPr>
              <a:t> </a:t>
            </a:r>
            <a:r>
              <a:rPr lang="nl-BE" sz="1800" dirty="0">
                <a:latin typeface="Aptos"/>
              </a:rPr>
              <a:t> </a:t>
            </a:r>
            <a:r>
              <a:rPr lang="nl-BE" sz="1600" dirty="0">
                <a:latin typeface="Aptos"/>
              </a:rPr>
              <a:t>Minimum </a:t>
            </a:r>
            <a:r>
              <a:rPr lang="nl-BE" sz="1600" dirty="0" err="1">
                <a:latin typeface="Aptos"/>
              </a:rPr>
              <a:t>Viable</a:t>
            </a:r>
            <a:r>
              <a:rPr lang="nl-BE" sz="1600" dirty="0">
                <a:latin typeface="Aptos"/>
              </a:rPr>
              <a:t> Product ontwikkeld in samenwerking met externe partner</a:t>
            </a:r>
            <a:endParaRPr lang="nl-BE" sz="16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7B70F38-1FAC-8623-37F3-C747C2503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nl-BE" sz="2000" dirty="0"/>
              <a:t>Groep 5: Victorien Vermeersch, Jente Van Keer, Lisa </a:t>
            </a:r>
            <a:r>
              <a:rPr lang="nl-BE" sz="2000" err="1"/>
              <a:t>Naert</a:t>
            </a:r>
            <a:r>
              <a:rPr lang="nl-BE" sz="2000" dirty="0"/>
              <a:t>, </a:t>
            </a:r>
            <a:r>
              <a:rPr lang="nl-BE" sz="2000" err="1"/>
              <a:t>Ilya</a:t>
            </a:r>
            <a:r>
              <a:rPr lang="nl-BE" sz="2000" dirty="0"/>
              <a:t> </a:t>
            </a:r>
            <a:r>
              <a:rPr lang="nl-BE" sz="2000" err="1"/>
              <a:t>Destoop</a:t>
            </a:r>
            <a:r>
              <a:rPr lang="nl-BE" sz="2000" dirty="0"/>
              <a:t>, Quinten </a:t>
            </a:r>
            <a:r>
              <a:rPr lang="nl-BE" sz="2000" err="1"/>
              <a:t>Batsleer</a:t>
            </a:r>
            <a:r>
              <a:rPr lang="nl-BE" sz="2000" dirty="0"/>
              <a:t> </a:t>
            </a:r>
          </a:p>
          <a:p>
            <a:pPr algn="l"/>
            <a:endParaRPr lang="nl-BE" sz="14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3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7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D1F69790-EDB1-9823-E457-B857419FA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716712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4463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31AB27-6B31-8703-9996-7572BBB32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nl-BE" sz="5400" dirty="0"/>
              <a:t>Onze app</a:t>
            </a:r>
          </a:p>
        </p:txBody>
      </p:sp>
      <p:sp>
        <p:nvSpPr>
          <p:cNvPr id="1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9A008A-CC20-81A3-FE95-34B74E124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65410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altLang="nl-BE" sz="2200" dirty="0">
                <a:latin typeface="c"/>
                <a:cs typeface="Arial"/>
              </a:rPr>
              <a:t>Webapplicatie voor efficiënt management van wijnbestellingen</a:t>
            </a:r>
            <a:endParaRPr lang="nl-BE" altLang="nl-BE" sz="2200">
              <a:latin typeface="c"/>
              <a:cs typeface="Arial"/>
            </a:endParaRPr>
          </a:p>
          <a:p>
            <a:r>
              <a:rPr lang="nl-BE" sz="2200" dirty="0">
                <a:latin typeface="c"/>
                <a:cs typeface="Arial"/>
              </a:rPr>
              <a:t>Een administrator kan verschillende routes samenstellen</a:t>
            </a:r>
          </a:p>
          <a:p>
            <a:r>
              <a:rPr lang="nl-BE" sz="2200" dirty="0">
                <a:latin typeface="c"/>
                <a:cs typeface="Arial"/>
              </a:rPr>
              <a:t>Elke driver/chauffeur kan zijn route zien voor vandaag en morgen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3DD7066-B63C-8EA0-1FB0-DE4ECE024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297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64B4CE-12BB-5C14-67CA-B4E57C33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nl-NL" sz="5400" dirty="0"/>
              <a:t>Functies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D58939D-718F-D191-1D10-DE1A7E12B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nl-NL" sz="2000" dirty="0">
              <a:latin typeface="Calibri"/>
            </a:endParaRPr>
          </a:p>
          <a:p>
            <a:endParaRPr lang="nl-NL" sz="2000"/>
          </a:p>
        </p:txBody>
      </p:sp>
      <p:pic>
        <p:nvPicPr>
          <p:cNvPr id="5" name="Afbeelding 4" descr="Afbeelding met tekst, schermopname, software, Besturingssysteem&#10;&#10;Door AI gegenereerde inhoud is mogelijk onjuist.">
            <a:extLst>
              <a:ext uri="{FF2B5EF4-FFF2-40B4-BE49-F238E27FC236}">
                <a16:creationId xmlns:a16="http://schemas.microsoft.com/office/drawing/2014/main" id="{F912063B-EE59-1D53-74B7-13DBFCE64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615" y="621030"/>
            <a:ext cx="3653484" cy="5577840"/>
          </a:xfrm>
          <a:prstGeom prst="rect">
            <a:avLst/>
          </a:prstGeom>
        </p:spPr>
      </p:pic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9B5DEE39-9D2A-7506-A769-1028C772E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018070"/>
              </p:ext>
            </p:extLst>
          </p:nvPr>
        </p:nvGraphicFramePr>
        <p:xfrm>
          <a:off x="643630" y="2937029"/>
          <a:ext cx="6105200" cy="2661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2600">
                  <a:extLst>
                    <a:ext uri="{9D8B030D-6E8A-4147-A177-3AD203B41FA5}">
                      <a16:colId xmlns:a16="http://schemas.microsoft.com/office/drawing/2014/main" val="1735909110"/>
                    </a:ext>
                  </a:extLst>
                </a:gridCol>
                <a:gridCol w="3052600">
                  <a:extLst>
                    <a:ext uri="{9D8B030D-6E8A-4147-A177-3AD203B41FA5}">
                      <a16:colId xmlns:a16="http://schemas.microsoft.com/office/drawing/2014/main" val="10574093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DRIVER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38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Nieuwe orders aanmaken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Dashboard met route voor vandaag en morgen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80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Route per chauffeur/driver aanmaken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Status aanpassen: geleverd/niet geleverd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78184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nl-NL" dirty="0"/>
                        <a:t>Orders en voertuig toewijzen aan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nl-NL" dirty="0"/>
                        <a:t>Indien niet geleverd, verplicht reden op te geven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58060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nl-NL" dirty="0"/>
                        <a:t>Ziet status van levering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039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956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5EC5FB-479E-E3DF-D9A1-8E7A712F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Extra algoritme: Shortest Path Problem </a:t>
            </a: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Tijdelijke aanduiding voor inhoud 2">
            <a:extLst>
              <a:ext uri="{FF2B5EF4-FFF2-40B4-BE49-F238E27FC236}">
                <a16:creationId xmlns:a16="http://schemas.microsoft.com/office/drawing/2014/main" id="{23968829-DA09-E6E6-C542-98836A7EC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77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8991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E36E08-74D7-93D6-15F9-ADB8EDE5F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latin typeface="+mj-lt"/>
                <a:ea typeface="+mj-ea"/>
                <a:cs typeface="+mj-cs"/>
              </a:rPr>
              <a:t>Algoritme</a:t>
            </a:r>
            <a:endParaRPr lang="en-US" sz="5400" kern="1200" dirty="0" err="1">
              <a:latin typeface="+mj-lt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0FCF1406-469E-477B-E3C1-8A3F1347CBC1}"/>
              </a:ext>
            </a:extLst>
          </p:cNvPr>
          <p:cNvSpPr txBox="1"/>
          <p:nvPr/>
        </p:nvSpPr>
        <p:spPr>
          <a:xfrm>
            <a:off x="342412" y="2660904"/>
            <a:ext cx="5543897" cy="29930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nl-BE" sz="2000" dirty="0" err="1"/>
              <a:t>Geocode</a:t>
            </a:r>
            <a:r>
              <a:rPr lang="nl-BE" sz="2000" dirty="0"/>
              <a:t> token die adressen in coördinaten omzet</a:t>
            </a:r>
            <a:endParaRPr lang="nl-NL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nl-BE" sz="2000" dirty="0"/>
              <a:t>Code in de </a:t>
            </a:r>
            <a:r>
              <a:rPr lang="nl-BE" sz="2000" dirty="0" err="1"/>
              <a:t>try</a:t>
            </a:r>
            <a:r>
              <a:rPr lang="nl-BE" sz="2000" dirty="0"/>
              <a:t>-lus: stuurt een </a:t>
            </a:r>
            <a:r>
              <a:rPr lang="nl-BE" sz="2000" dirty="0" err="1"/>
              <a:t>request</a:t>
            </a:r>
            <a:r>
              <a:rPr lang="nl-BE" sz="2000" dirty="0"/>
              <a:t> naar </a:t>
            </a:r>
            <a:r>
              <a:rPr lang="nl-BE" sz="2000" dirty="0" err="1"/>
              <a:t>Mapbox</a:t>
            </a:r>
            <a:r>
              <a:rPr lang="nl-BE" sz="2000" dirty="0"/>
              <a:t>, wacht max. 5 sec </a:t>
            </a:r>
            <a:endParaRPr lang="nl-NL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nl-BE" sz="2000" dirty="0"/>
              <a:t>Indien er een fout in antwoord van </a:t>
            </a:r>
            <a:r>
              <a:rPr lang="nl-BE" sz="2000" dirty="0" err="1"/>
              <a:t>mapbox</a:t>
            </a:r>
            <a:r>
              <a:rPr lang="nl-BE" sz="2000" dirty="0"/>
              <a:t> staat</a:t>
            </a:r>
            <a:r>
              <a:rPr lang="nl-BE" sz="2000"/>
              <a:t> </a:t>
            </a:r>
            <a:r>
              <a:rPr lang="nl-BE" sz="2000" dirty="0"/>
              <a:t>--&gt;</a:t>
            </a:r>
            <a:r>
              <a:rPr lang="nl-BE" sz="2000"/>
              <a:t> </a:t>
            </a:r>
            <a:r>
              <a:rPr lang="nl-BE" sz="2000" dirty="0" err="1"/>
              <a:t>raise</a:t>
            </a:r>
            <a:r>
              <a:rPr lang="nl-BE" sz="2000" dirty="0"/>
              <a:t> </a:t>
            </a:r>
            <a:r>
              <a:rPr lang="nl-BE" sz="2000" dirty="0" err="1"/>
              <a:t>exception</a:t>
            </a:r>
            <a:r>
              <a:rPr lang="nl-BE" sz="2000" dirty="0"/>
              <a:t> </a:t>
            </a:r>
            <a:endParaRPr lang="nl-NL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nl-BE" sz="2000" dirty="0"/>
              <a:t>Haalt coördinaten uit het antwoord</a:t>
            </a:r>
            <a:endParaRPr lang="nl-NL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nl-BE" sz="2000" dirty="0" err="1"/>
              <a:t>Returnt</a:t>
            </a:r>
            <a:r>
              <a:rPr lang="nl-BE" sz="2000" dirty="0"/>
              <a:t> een </a:t>
            </a:r>
            <a:r>
              <a:rPr lang="nl-BE" sz="2000" dirty="0" err="1"/>
              <a:t>tuple</a:t>
            </a:r>
            <a:r>
              <a:rPr lang="nl-BE" sz="2000" dirty="0"/>
              <a:t> (lijn 28)</a:t>
            </a:r>
            <a:endParaRPr lang="nl-NL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/>
          </a:p>
        </p:txBody>
      </p:sp>
      <p:pic>
        <p:nvPicPr>
          <p:cNvPr id="10" name="Tijdelijke aanduiding voor inhoud 9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1C1E7DFA-FE88-5A9B-F017-C1299E9A7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9048" y="1729897"/>
            <a:ext cx="5458968" cy="339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5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44DAAD9-107A-8C97-9D30-F8B6FF71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nl-BE" sz="5400" dirty="0"/>
              <a:t>Algoritme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B4AB3A-EBF0-4785-EBCD-C1BBF547A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nl-BE" sz="2200" dirty="0"/>
              <a:t>Functie die een matrix maakt  met de reistijden tussen alle coördinaten</a:t>
            </a:r>
          </a:p>
          <a:p>
            <a:r>
              <a:rPr lang="nl-BE" sz="2200" dirty="0"/>
              <a:t>Als </a:t>
            </a:r>
            <a:r>
              <a:rPr lang="nl-BE" sz="2200" dirty="0" err="1"/>
              <a:t>Mapbox</a:t>
            </a:r>
            <a:r>
              <a:rPr lang="nl-BE" sz="2200" dirty="0"/>
              <a:t> geen route kan berekenen  (None) -&gt; route kan nooit gekozen wordt</a:t>
            </a:r>
          </a:p>
          <a:p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5" name="Tijdelijke aanduiding voor inhoud 4" descr="Afbeelding met tekst, schermopname, software&#10;&#10;Door AI gegenereerde inhoud is mogelijk onjuist.">
            <a:extLst>
              <a:ext uri="{FF2B5EF4-FFF2-40B4-BE49-F238E27FC236}">
                <a16:creationId xmlns:a16="http://schemas.microsoft.com/office/drawing/2014/main" id="{5ECBAE29-5D4A-2ECA-12EB-A3308D5BA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654836"/>
            <a:ext cx="5458968" cy="354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4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93E7DF-936C-FB1B-40E8-4D458A99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5400"/>
              <a:t>Hulpalgoritmes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6B1AF0D-3F19-C00C-5C72-024D2F439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400" dirty="0">
                <a:latin typeface="Aptos"/>
                <a:ea typeface="Calibri"/>
                <a:cs typeface="Calibri"/>
              </a:rPr>
              <a:t>Algoritme: automatische berekening totaalgewicht order</a:t>
            </a:r>
          </a:p>
          <a:p>
            <a:pPr lvl="1"/>
            <a:r>
              <a:rPr lang="nl-NL" dirty="0">
                <a:latin typeface="Aptos"/>
                <a:ea typeface="Calibri"/>
                <a:cs typeface="Calibri"/>
              </a:rPr>
              <a:t>1 fles = 1,5 kg</a:t>
            </a:r>
          </a:p>
          <a:p>
            <a:pPr lvl="1"/>
            <a:r>
              <a:rPr lang="nl-NL" dirty="0">
                <a:latin typeface="Aptos"/>
                <a:ea typeface="Calibri"/>
                <a:cs typeface="Calibri"/>
              </a:rPr>
              <a:t>1 bib = 4 kg</a:t>
            </a:r>
          </a:p>
          <a:p>
            <a:pPr lvl="1"/>
            <a:r>
              <a:rPr lang="nl-NL" dirty="0">
                <a:latin typeface="Aptos"/>
                <a:ea typeface="Calibri"/>
                <a:cs typeface="Calibri"/>
              </a:rPr>
              <a:t>1 vat = 65 kg</a:t>
            </a:r>
          </a:p>
          <a:p>
            <a:r>
              <a:rPr lang="nl-NL" sz="2400" dirty="0">
                <a:latin typeface="Aptos"/>
                <a:ea typeface="Calibri"/>
                <a:cs typeface="Calibri"/>
              </a:rPr>
              <a:t>Controle-algoritme: totaal gewicht van route mag capaciteit voertuig niet overschrijden</a:t>
            </a:r>
          </a:p>
          <a:p>
            <a:pPr lvl="1"/>
            <a:r>
              <a:rPr lang="nl-NL" dirty="0">
                <a:latin typeface="Aptos"/>
                <a:ea typeface="Calibri"/>
                <a:cs typeface="Calibri"/>
              </a:rPr>
              <a:t>Foutmelding indien capaciteit overschreden</a:t>
            </a:r>
          </a:p>
          <a:p>
            <a:pPr lvl="1"/>
            <a:r>
              <a:rPr lang="nl-NL" dirty="0">
                <a:latin typeface="Aptos"/>
                <a:ea typeface="Calibri"/>
                <a:cs typeface="Calibri"/>
              </a:rPr>
              <a:t>Onmogelijk toe te voegen</a:t>
            </a:r>
          </a:p>
          <a:p>
            <a:pPr lvl="1"/>
            <a:r>
              <a:rPr lang="nl-NL" dirty="0">
                <a:latin typeface="Aptos"/>
                <a:ea typeface="Calibri"/>
                <a:cs typeface="Calibri"/>
              </a:rPr>
              <a:t>Gekozen voertuig kan aangepast worden</a:t>
            </a:r>
          </a:p>
          <a:p>
            <a:pPr lvl="1"/>
            <a:endParaRPr lang="nl-NL" sz="2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nl-NL" sz="2200"/>
          </a:p>
        </p:txBody>
      </p:sp>
      <p:pic>
        <p:nvPicPr>
          <p:cNvPr id="4" name="Afbeelding 3" descr="Afbeelding met tekst, schermopname, Lettertype, visitekaartje&#10;&#10;Door AI gegenereerde inhoud is mogelijk onjuist.">
            <a:extLst>
              <a:ext uri="{FF2B5EF4-FFF2-40B4-BE49-F238E27FC236}">
                <a16:creationId xmlns:a16="http://schemas.microsoft.com/office/drawing/2014/main" id="{50DD27E0-F3C6-E5F3-16B0-6D2B44B7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31" y="5395352"/>
            <a:ext cx="508635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28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506A96-4429-4431-7D4D-DA8C360B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4600" dirty="0"/>
              <a:t>Agile development process</a:t>
            </a:r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010C57-090A-A1B8-5025-C95E7638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34" y="2660904"/>
            <a:ext cx="9901353" cy="39991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NL" sz="2200" b="1" dirty="0">
                <a:ea typeface="+mn-lt"/>
                <a:cs typeface="+mn-lt"/>
              </a:rPr>
              <a:t>Sprint 1</a:t>
            </a:r>
            <a:endParaRPr lang="nl-NL" sz="2200"/>
          </a:p>
          <a:p>
            <a:r>
              <a:rPr lang="nl-NL" sz="2200" dirty="0">
                <a:ea typeface="+mn-lt"/>
                <a:cs typeface="+mn-lt"/>
              </a:rPr>
              <a:t>UI</a:t>
            </a:r>
          </a:p>
          <a:p>
            <a:r>
              <a:rPr lang="nl-NL" sz="2200" dirty="0">
                <a:ea typeface="+mn-lt"/>
                <a:cs typeface="+mn-lt"/>
              </a:rPr>
              <a:t>Feedback: automatische berekening gewicht order</a:t>
            </a:r>
            <a:endParaRPr lang="nl-NL" sz="2200"/>
          </a:p>
          <a:p>
            <a:r>
              <a:rPr lang="nl-NL" sz="2200" b="1" dirty="0">
                <a:ea typeface="+mn-lt"/>
                <a:cs typeface="+mn-lt"/>
              </a:rPr>
              <a:t>Sprint 2</a:t>
            </a:r>
          </a:p>
          <a:p>
            <a:r>
              <a:rPr lang="nl-NL" sz="2200" dirty="0">
                <a:ea typeface="+mn-lt"/>
                <a:cs typeface="+mn-lt"/>
              </a:rPr>
              <a:t>Automatisch invullen van gegevens bij opgeven naam</a:t>
            </a:r>
          </a:p>
          <a:p>
            <a:r>
              <a:rPr lang="nl-NL" sz="2200" dirty="0">
                <a:ea typeface="+mn-lt"/>
                <a:cs typeface="+mn-lt"/>
              </a:rPr>
              <a:t>Feedback: logische volgorde van orders</a:t>
            </a:r>
            <a:endParaRPr lang="nl-NL" sz="2200"/>
          </a:p>
          <a:p>
            <a:r>
              <a:rPr lang="nl-NL" sz="2200" b="1" dirty="0">
                <a:ea typeface="+mn-lt"/>
                <a:cs typeface="+mn-lt"/>
              </a:rPr>
              <a:t>Sprint 3</a:t>
            </a:r>
            <a:endParaRPr lang="nl-NL" sz="2200" dirty="0">
              <a:ea typeface="+mn-lt"/>
              <a:cs typeface="+mn-lt"/>
            </a:endParaRPr>
          </a:p>
          <a:p>
            <a:r>
              <a:rPr lang="nl-NL" sz="2200" dirty="0">
                <a:ea typeface="+mn-lt"/>
                <a:cs typeface="+mn-lt"/>
              </a:rPr>
              <a:t>Mogelijkheid tot verwijderen orders uit route</a:t>
            </a:r>
          </a:p>
          <a:p>
            <a:r>
              <a:rPr lang="nl-NL" sz="2200" dirty="0">
                <a:ea typeface="+mn-lt"/>
                <a:cs typeface="+mn-lt"/>
              </a:rPr>
              <a:t>Feedback: blokkeren van afgeronde routes &amp; orders</a:t>
            </a:r>
          </a:p>
          <a:p>
            <a:endParaRPr lang="nl-NL" sz="1900" dirty="0"/>
          </a:p>
        </p:txBody>
      </p:sp>
      <p:pic>
        <p:nvPicPr>
          <p:cNvPr id="4" name="Afbeelding 3" descr="Agile est-il mort ? Pour un ingénieur «Le développement &quot;agile&quot; avec lequel  nous sommes coincés aujourd'hui est une blague», il souligne ses  dysfonctionnements dans les processus de développement en entreprise">
            <a:extLst>
              <a:ext uri="{FF2B5EF4-FFF2-40B4-BE49-F238E27FC236}">
                <a16:creationId xmlns:a16="http://schemas.microsoft.com/office/drawing/2014/main" id="{A0B4999C-DFD0-0D4F-2B0E-F9EFF6DAC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339" y="210080"/>
            <a:ext cx="5458968" cy="244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0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9B9842-4579-0F7D-0CA4-2E1F6397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Kanbanboard na sprint 2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ijdelijke aanduiding voor inhoud 3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EA390C40-C08C-9BF6-6E80-B1FE049F6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241" y="120127"/>
            <a:ext cx="6147994" cy="661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8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E4BBBE-8BAC-4190-8FAC-C98CDF0D6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nl-BE" sz="4600" dirty="0"/>
              <a:t>Meer info i.v.m. externe </a:t>
            </a:r>
            <a:r>
              <a:rPr lang="nl-BE" dirty="0"/>
              <a:t>partner</a:t>
            </a:r>
            <a:r>
              <a:rPr lang="nl-BE" sz="4600" dirty="0"/>
              <a:t>: </a:t>
            </a:r>
            <a:r>
              <a:rPr lang="nl-BE" sz="4600" err="1"/>
              <a:t>Vinoscoop</a:t>
            </a:r>
            <a:endParaRPr lang="nl-BE" sz="4600"/>
          </a:p>
        </p:txBody>
      </p:sp>
      <p:pic>
        <p:nvPicPr>
          <p:cNvPr id="4" name="Afbeelding 3" descr="Home - Vinoscoop Export">
            <a:extLst>
              <a:ext uri="{FF2B5EF4-FFF2-40B4-BE49-F238E27FC236}">
                <a16:creationId xmlns:a16="http://schemas.microsoft.com/office/drawing/2014/main" id="{C12A5C11-374B-80F2-8149-39C204C9DA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76"/>
          <a:stretch>
            <a:fillRect/>
          </a:stretch>
        </p:blipFill>
        <p:spPr>
          <a:xfrm>
            <a:off x="134472" y="170339"/>
            <a:ext cx="4415297" cy="6508367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5941C-E1C9-097E-63EE-A8FC05374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sz="2200" dirty="0"/>
              <a:t> </a:t>
            </a:r>
            <a:r>
              <a:rPr lang="nl-BE" sz="2200" err="1">
                <a:ea typeface="+mn-lt"/>
                <a:cs typeface="+mn-lt"/>
              </a:rPr>
              <a:t>Vinoscoop</a:t>
            </a:r>
            <a:endParaRPr lang="nl-BE" err="1">
              <a:ea typeface="+mn-lt"/>
              <a:cs typeface="+mn-lt"/>
            </a:endParaRPr>
          </a:p>
          <a:p>
            <a:pPr lvl="1"/>
            <a:r>
              <a:rPr lang="nl-BE" sz="1800" dirty="0">
                <a:ea typeface="+mn-lt"/>
                <a:cs typeface="+mn-lt"/>
              </a:rPr>
              <a:t>Internationale wijnimporteur </a:t>
            </a:r>
            <a:endParaRPr lang="nl-BE" sz="1800">
              <a:ea typeface="+mn-lt"/>
              <a:cs typeface="+mn-lt"/>
            </a:endParaRPr>
          </a:p>
          <a:p>
            <a:pPr lvl="1"/>
            <a:r>
              <a:rPr lang="nl-BE" sz="1800" dirty="0">
                <a:ea typeface="+mn-lt"/>
                <a:cs typeface="+mn-lt"/>
              </a:rPr>
              <a:t>Nationale wijndistributeur (leveringen in gans België)</a:t>
            </a:r>
            <a:endParaRPr lang="nl-BE" sz="1800" dirty="0"/>
          </a:p>
          <a:p>
            <a:r>
              <a:rPr lang="nl-BE" sz="2200" dirty="0"/>
              <a:t>Uitdaging: Geen efficiënte manier om leveringen te plannen en duidelijk te communiceren met de chauffeurs</a:t>
            </a:r>
          </a:p>
        </p:txBody>
      </p:sp>
    </p:spTree>
    <p:extLst>
      <p:ext uri="{BB962C8B-B14F-4D97-AF65-F5344CB8AC3E}">
        <p14:creationId xmlns:p14="http://schemas.microsoft.com/office/powerpoint/2010/main" val="116029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AB30A5-8925-2C8B-1539-1C4A4FD9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Afbeelding 3" descr="ERD model .png">
            <a:extLst>
              <a:ext uri="{FF2B5EF4-FFF2-40B4-BE49-F238E27FC236}">
                <a16:creationId xmlns:a16="http://schemas.microsoft.com/office/drawing/2014/main" id="{95B81B58-3E17-E949-D9CE-587E187FB8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66" t="12320" r="26494" b="-160"/>
          <a:stretch>
            <a:fillRect/>
          </a:stretch>
        </p:blipFill>
        <p:spPr>
          <a:xfrm>
            <a:off x="6097733" y="1905"/>
            <a:ext cx="5575516" cy="686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08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581278-A969-46F7-81C7-FEF06C29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nl-NL" sz="5400"/>
              <a:t>User interface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08CDEF-A3E6-8297-7BE8-0DBDB246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nl-NL" sz="2200">
                <a:ea typeface="+mn-lt"/>
                <a:cs typeface="+mn-lt"/>
              </a:rPr>
              <a:t>Eenvoudige, overzichtelijke interface</a:t>
            </a:r>
            <a:endParaRPr lang="nl-NL" sz="2200"/>
          </a:p>
          <a:p>
            <a:r>
              <a:rPr lang="nl-NL" sz="2200">
                <a:ea typeface="+mn-lt"/>
                <a:cs typeface="+mn-lt"/>
              </a:rPr>
              <a:t>Duidelijke knoppen voor chauffeurs</a:t>
            </a:r>
            <a:endParaRPr lang="nl-NL" sz="2200"/>
          </a:p>
          <a:p>
            <a:r>
              <a:rPr lang="nl-NL" sz="2200">
                <a:ea typeface="+mn-lt"/>
                <a:cs typeface="+mn-lt"/>
              </a:rPr>
              <a:t>Duidelijke statuslabels (kleurgebruik)</a:t>
            </a:r>
            <a:endParaRPr lang="nl-NL" sz="2200"/>
          </a:p>
          <a:p>
            <a:endParaRPr lang="nl-NL" sz="2200"/>
          </a:p>
        </p:txBody>
      </p:sp>
      <p:pic>
        <p:nvPicPr>
          <p:cNvPr id="5" name="Afbeelding 4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F3EEE04F-8ADB-70F0-A366-C84E220FA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61441"/>
            <a:ext cx="6903720" cy="393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97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56A9C6-5970-BE59-A317-5930FD0C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8" name="Tijdelijke aanduiding voor inhoud 7" descr="Afbeelding met Mobiele telefoon, Draagbaar communicatietoestel, smartphone, Hoes voor mobiele telefoon&#10;&#10;Door AI gegenereerde inhoud is mogelijk onjuist.">
            <a:extLst>
              <a:ext uri="{FF2B5EF4-FFF2-40B4-BE49-F238E27FC236}">
                <a16:creationId xmlns:a16="http://schemas.microsoft.com/office/drawing/2014/main" id="{DB20CB65-6472-7CE5-7DD7-58ACE8B13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1073"/>
            <a:ext cx="12192000" cy="6853750"/>
          </a:xfrm>
          <a:prstGeom prst="rect">
            <a:avLst/>
          </a:prstGeom>
        </p:spPr>
      </p:pic>
      <p:pic>
        <p:nvPicPr>
          <p:cNvPr id="10" name="Afbeelding 9" descr="Afbeelding met tekst, schermopname, ontwerp&#10;&#10;Door AI gegenereerde inhoud is mogelijk onjuist.">
            <a:extLst>
              <a:ext uri="{FF2B5EF4-FFF2-40B4-BE49-F238E27FC236}">
                <a16:creationId xmlns:a16="http://schemas.microsoft.com/office/drawing/2014/main" id="{3DD84312-2A9B-A82D-A942-91847D71C8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23" t="5925" r="1246" b="2457"/>
          <a:stretch>
            <a:fillRect/>
          </a:stretch>
        </p:blipFill>
        <p:spPr>
          <a:xfrm>
            <a:off x="514523" y="1711342"/>
            <a:ext cx="2189087" cy="4349452"/>
          </a:xfrm>
          <a:prstGeom prst="rect">
            <a:avLst/>
          </a:prstGeom>
        </p:spPr>
      </p:pic>
      <p:pic>
        <p:nvPicPr>
          <p:cNvPr id="12" name="Afbeelding 11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F9E935A4-15D1-CEB6-7B90-0BBFFD2098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03" b="55"/>
          <a:stretch>
            <a:fillRect/>
          </a:stretch>
        </p:blipFill>
        <p:spPr>
          <a:xfrm>
            <a:off x="3244817" y="1706138"/>
            <a:ext cx="2202583" cy="4369879"/>
          </a:xfrm>
          <a:prstGeom prst="rect">
            <a:avLst/>
          </a:prstGeom>
        </p:spPr>
      </p:pic>
      <p:pic>
        <p:nvPicPr>
          <p:cNvPr id="14" name="Afbeelding 13" descr="Afbeelding met tekst, elektronica, schermopname, software&#10;&#10;Door AI gegenereerde inhoud is mogelijk onjuist.">
            <a:extLst>
              <a:ext uri="{FF2B5EF4-FFF2-40B4-BE49-F238E27FC236}">
                <a16:creationId xmlns:a16="http://schemas.microsoft.com/office/drawing/2014/main" id="{027286FC-6A32-5812-720D-7EC289989D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658" r="308"/>
          <a:stretch>
            <a:fillRect/>
          </a:stretch>
        </p:blipFill>
        <p:spPr>
          <a:xfrm>
            <a:off x="6097302" y="1707660"/>
            <a:ext cx="2220236" cy="4365312"/>
          </a:xfrm>
          <a:prstGeom prst="rect">
            <a:avLst/>
          </a:prstGeom>
        </p:spPr>
      </p:pic>
      <p:pic>
        <p:nvPicPr>
          <p:cNvPr id="16" name="Afbeelding 15" descr="Afbeelding met tekst, elektronica, schermopname, software&#10;&#10;Door AI gegenereerde inhoud is mogelijk onjuist.">
            <a:extLst>
              <a:ext uri="{FF2B5EF4-FFF2-40B4-BE49-F238E27FC236}">
                <a16:creationId xmlns:a16="http://schemas.microsoft.com/office/drawing/2014/main" id="{3DF5A7B7-837D-E5CF-5ACE-CFDB6734A6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" t="8225" r="-313" b="433"/>
          <a:stretch>
            <a:fillRect/>
          </a:stretch>
        </p:blipFill>
        <p:spPr>
          <a:xfrm>
            <a:off x="9169306" y="1746739"/>
            <a:ext cx="2185453" cy="4287157"/>
          </a:xfrm>
          <a:prstGeom prst="rect">
            <a:avLst/>
          </a:prstGeom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991CF8A7-3F23-502C-D279-9BD86D18A419}"/>
              </a:ext>
            </a:extLst>
          </p:cNvPr>
          <p:cNvSpPr txBox="1"/>
          <p:nvPr/>
        </p:nvSpPr>
        <p:spPr>
          <a:xfrm>
            <a:off x="2494028" y="516159"/>
            <a:ext cx="756138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4000" dirty="0"/>
              <a:t>Lay-out op andere apparaten</a:t>
            </a:r>
          </a:p>
        </p:txBody>
      </p:sp>
    </p:spTree>
    <p:extLst>
      <p:ext uri="{BB962C8B-B14F-4D97-AF65-F5344CB8AC3E}">
        <p14:creationId xmlns:p14="http://schemas.microsoft.com/office/powerpoint/2010/main" val="1052329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A7525BE-5573-D26A-BC9B-4ABC0000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sz="5400"/>
              <a:t>Mogelijke uitbreidingen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BE2D20-5C3F-3796-775D-D38547FC1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200"/>
              <a:t>Geavanceerde rapporten (vb. aantal bestellingen per driver)</a:t>
            </a:r>
          </a:p>
          <a:p>
            <a:endParaRPr lang="nl-NL" sz="2200"/>
          </a:p>
          <a:p>
            <a:r>
              <a:rPr lang="nl-NL" sz="2200"/>
              <a:t>Live driver tracking</a:t>
            </a:r>
          </a:p>
          <a:p>
            <a:endParaRPr lang="nl-NL" sz="2200"/>
          </a:p>
          <a:p>
            <a:r>
              <a:rPr lang="nl-NL" sz="2200"/>
              <a:t>Notificaties (vb. driver arriveert tussen 10u en 12u)</a:t>
            </a:r>
          </a:p>
          <a:p>
            <a:endParaRPr lang="nl-NL" sz="2200"/>
          </a:p>
          <a:p>
            <a:r>
              <a:rPr lang="nl-NL" sz="2200"/>
              <a:t>Automatische invulling van bestellingen via de website</a:t>
            </a:r>
          </a:p>
          <a:p>
            <a:endParaRPr lang="nl-NL" sz="2200"/>
          </a:p>
          <a:p>
            <a:r>
              <a:rPr lang="nl-NL" sz="2200"/>
              <a:t>…</a:t>
            </a:r>
          </a:p>
          <a:p>
            <a:endParaRPr lang="nl-NL" sz="2200"/>
          </a:p>
        </p:txBody>
      </p:sp>
    </p:spTree>
    <p:extLst>
      <p:ext uri="{BB962C8B-B14F-4D97-AF65-F5344CB8AC3E}">
        <p14:creationId xmlns:p14="http://schemas.microsoft.com/office/powerpoint/2010/main" val="3401535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5CE91E-E473-1558-D149-C146F2B4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err="1"/>
              <a:t>Nog</a:t>
            </a:r>
            <a:r>
              <a:rPr lang="en-US" sz="7200"/>
              <a:t> </a:t>
            </a:r>
            <a:r>
              <a:rPr lang="en-US" sz="7200" err="1"/>
              <a:t>vragen</a:t>
            </a:r>
            <a:r>
              <a:rPr lang="en-US" sz="7200" kern="1200">
                <a:latin typeface="+mj-lt"/>
                <a:ea typeface="+mj-ea"/>
                <a:cs typeface="+mj-cs"/>
              </a:rPr>
              <a:t>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60383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Breedbeeld</PresentationFormat>
  <Slides>16</Slides>
  <Notes>0</Notes>
  <HiddenSlides>0</HiddenSlide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17" baseType="lpstr">
      <vt:lpstr>Kantoorthema</vt:lpstr>
      <vt:lpstr>Project A&amp;D en DBS    Minimum Viable Product ontwikkeld in samenwerking met externe partner</vt:lpstr>
      <vt:lpstr>PowerPoint-presentatie</vt:lpstr>
      <vt:lpstr>Onze app</vt:lpstr>
      <vt:lpstr>Functies</vt:lpstr>
      <vt:lpstr>Extra algoritme: Shortest Path Problem </vt:lpstr>
      <vt:lpstr>Algoritme</vt:lpstr>
      <vt:lpstr>Algoritme </vt:lpstr>
      <vt:lpstr>Hulpalgoritmes </vt:lpstr>
      <vt:lpstr>Agile development process</vt:lpstr>
      <vt:lpstr>Kanbanboard na sprint 2</vt:lpstr>
      <vt:lpstr>Meer info i.v.m. externe partner: Vinoscoop</vt:lpstr>
      <vt:lpstr>ERD</vt:lpstr>
      <vt:lpstr>User interface </vt:lpstr>
      <vt:lpstr>PowerPoint-presentatie</vt:lpstr>
      <vt:lpstr>Mogelijke uitbreidingen </vt:lpstr>
      <vt:lpstr>Nog vragen?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Victorien Vermeersch</dc:creator>
  <cp:revision>1423</cp:revision>
  <dcterms:created xsi:type="dcterms:W3CDTF">2025-12-08T17:23:03Z</dcterms:created>
  <dcterms:modified xsi:type="dcterms:W3CDTF">2025-12-15T19:04:49Z</dcterms:modified>
</cp:coreProperties>
</file>